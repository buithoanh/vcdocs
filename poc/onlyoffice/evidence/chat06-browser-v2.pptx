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5F87C3-8172-CC13-3B37-593BC8695A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E78557-57E5-B8AE-01B2-99498AB03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0ED631-FC15-6F16-B51D-9B0DF990B6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Trố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582038" name="Tiêu đề"/>
          <p:cNvSpPr txBox="1"/>
          <p:nvPr/>
        </p:nvSpPr>
        <p:spPr bwMode="auto">
          <a:xfrm>
            <a:off x="850000" y="1450000"/>
            <a:ext cx="104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/>
            </a:pPr>
            <a:r>
              <a:rPr lang="vi-VN" sz="3600" b="1">
                <a:solidFill>
                  <a:srgbClr val="13233A"/>
                </a:solidFill>
                <a:latin typeface="Liberation Sans"/>
                <a:ea typeface="Liberation Sans"/>
                <a:cs typeface="Liberation Sans"/>
              </a:rPr>
              <a:t>NOI DUNG CHAT06 V2</a:t>
            </a:r>
            <a:endParaRPr lang="vi-VN" sz="3600"/>
          </a:p>
        </p:txBody>
      </p:sp>
      <p:sp>
        <p:nvSpPr>
          <p:cNvPr id="1657247086" name="Phụ đề"/>
          <p:cNvSpPr txBox="1"/>
          <p:nvPr/>
        </p:nvSpPr>
        <p:spPr bwMode="auto">
          <a:xfrm>
            <a:off x="850000" y="310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/>
            </a:pPr>
            <a:r>
              <a:rPr lang="vi-VN" sz="2000">
                <a:solidFill>
                  <a:srgbClr val="3B82F6"/>
                </a:solidFill>
                <a:latin typeface="Liberation Sans"/>
                <a:ea typeface="Liberation Sans"/>
                <a:cs typeface="Liberation Sans"/>
              </a:rPr>
              <a:t>Mẫu trình chiếu tiếng Việt · VCworkspace</a:t>
            </a:r>
            <a:endParaRPr lang="vi-VN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37776" name="Tiêu đề"/>
          <p:cNvSpPr txBox="1"/>
          <p:nvPr/>
        </p:nvSpPr>
        <p:spPr bwMode="auto">
          <a:xfrm>
            <a:off x="65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/>
            </a:pPr>
            <a:r>
              <a:rPr lang="vi-VN" sz="3000" b="1">
                <a:solidFill>
                  <a:srgbClr val="13233A"/>
                </a:solidFill>
                <a:latin typeface="Liberation Sans"/>
                <a:ea typeface="Liberation Sans"/>
                <a:cs typeface="Liberation Sans"/>
              </a:rPr>
              <a:t>Ba trọng tâm triển khai</a:t>
            </a:r>
            <a:endParaRPr lang="vi-VN" sz="3000"/>
          </a:p>
        </p:txBody>
      </p:sp>
      <p:sp>
        <p:nvSpPr>
          <p:cNvPr id="1018968902" name="Drive"/>
          <p:cNvSpPr/>
          <p:nvPr/>
        </p:nvSpPr>
        <p:spPr bwMode="auto">
          <a:xfrm>
            <a:off x="650000" y="1800000"/>
            <a:ext cx="3200000" cy="22000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vi-VN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  Lưu trữ đúng quyền</a:t>
            </a:r>
            <a:endParaRPr/>
          </a:p>
        </p:txBody>
      </p:sp>
      <p:sp>
        <p:nvSpPr>
          <p:cNvPr id="1753367257" name="Office"/>
          <p:cNvSpPr/>
          <p:nvPr/>
        </p:nvSpPr>
        <p:spPr bwMode="auto">
          <a:xfrm>
            <a:off x="4250000" y="1800000"/>
            <a:ext cx="3200000" cy="22000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vi-VN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  Soạn thảo và phiên bản</a:t>
            </a:r>
            <a:endParaRPr/>
          </a:p>
        </p:txBody>
      </p:sp>
      <p:sp>
        <p:nvSpPr>
          <p:cNvPr id="867453324" name="Lien thong"/>
          <p:cNvSpPr/>
          <p:nvPr/>
        </p:nvSpPr>
        <p:spPr bwMode="auto">
          <a:xfrm>
            <a:off x="7850000" y="1800000"/>
            <a:ext cx="3200000" cy="22000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vi-VN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  Liên thông nghiệp vụ</a:t>
            </a:r>
            <a:endParaRPr/>
          </a:p>
        </p:txBody>
      </p:sp>
      <p:sp>
        <p:nvSpPr>
          <p:cNvPr id="311454527" name="Ghi chú"/>
          <p:cNvSpPr txBox="1"/>
          <p:nvPr/>
        </p:nvSpPr>
        <p:spPr bwMode="auto">
          <a:xfrm>
            <a:off x="650000" y="455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/>
            </a:pPr>
            <a:r>
              <a:rPr lang="vi-VN" sz="1900">
                <a:solidFill>
                  <a:srgbClr val="13233A"/>
                </a:solidFill>
                <a:latin typeface="Liberation Sans"/>
                <a:ea typeface="Liberation Sans"/>
                <a:cs typeface="Liberation Sans"/>
              </a:rPr>
              <a:t>Mỗi lần lưu tạo một phiên bản bất biến trong Drive.</a:t>
            </a:r>
            <a:endParaRPr lang="vi-VN" sz="1900"/>
          </a:p>
        </p:txBody>
      </p:sp>
      <p:sp>
        <p:nvSpPr>
          <p:cNvPr id="1090240404" name=""/>
          <p:cNvSpPr/>
          <p:nvPr/>
        </p:nvSpPr>
        <p:spPr bwMode="auto">
          <a:xfrm rot="0" flipH="0" flipV="0">
            <a:off x="6113499" y="34290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007" name="Tiêu đề"/>
          <p:cNvSpPr txBox="1"/>
          <p:nvPr/>
        </p:nvSpPr>
        <p:spPr bwMode="auto">
          <a:xfrm>
            <a:off x="65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/>
            </a:pPr>
            <a:r>
              <a:rPr lang="vi-VN" sz="3000" b="1">
                <a:solidFill>
                  <a:srgbClr val="13233A"/>
                </a:solidFill>
                <a:latin typeface="Liberation Sans"/>
                <a:ea typeface="Liberation Sans"/>
                <a:cs typeface="Liberation Sans"/>
              </a:rPr>
              <a:t>Bảng kiểm nghiệm thu</a:t>
            </a:r>
            <a:endParaRPr lang="vi-VN" sz="3000"/>
          </a:p>
        </p:txBody>
      </p:sp>
      <p:graphicFrame>
        <p:nvGraphicFramePr>
          <p:cNvPr id="1800673495" name="Bảng tiến độ"/>
          <p:cNvGraphicFramePr>
            <a:graphicFrameLocks xmlns:a="http://schemas.openxmlformats.org/drawingml/2006/main"/>
          </p:cNvGraphicFramePr>
          <p:nvPr/>
        </p:nvGraphicFramePr>
        <p:xfrm rot="0">
          <a:off x="800000" y="1700000"/>
          <a:ext cx="10600000" cy="30000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300000"/>
                <a:gridCol w="3650000"/>
                <a:gridCol w="3650000"/>
              </a:tblGrid>
              <a:tr h="750000"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Hạng mục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Trạng thái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Bằng chứng</a:t>
                      </a:r>
                      <a:endParaRPr/>
                    </a:p>
                  </a:txBody>
                  <a:tcPr/>
                </a:tc>
              </a:tr>
              <a:tr h="750000"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Mẫu 3 slide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Hoàn tất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PPTX + PDF</a:t>
                      </a:r>
                      <a:endParaRPr/>
                    </a:p>
                  </a:txBody>
                  <a:tcPr/>
                </a:tc>
              </a:tr>
              <a:tr h="750000"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Lưu phiên bản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Đang kiểm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V1 → V2</a:t>
                      </a:r>
                      <a:endParaRPr/>
                    </a:p>
                  </a:txBody>
                  <a:tcPr/>
                </a:tc>
              </a:tr>
              <a:tr h="750000"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Quyền người đọc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Bắt buộc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vi-VN" sz="1800">
                          <a:latin typeface="Liberation Sans"/>
                          <a:ea typeface="Liberation Sans"/>
                          <a:cs typeface="Liberation Sans"/>
                        </a:rPr>
                        <a:t>Chỉ xem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VCworkspace">
  <a:themeElements>
    <a:clrScheme name="VCworkspace">
      <a:dk1>
        <a:srgbClr val="13233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C2410C"/>
      </a:accent3>
      <a:accent4>
        <a:srgbClr val="7C3AED"/>
      </a:accent4>
      <a:accent5>
        <a:srgbClr val="0891B2"/>
      </a:accent5>
      <a:accent6>
        <a:srgbClr val="CA8A04"/>
      </a:accent6>
      <a:hlink>
        <a:srgbClr val="0563C1"/>
      </a:hlink>
      <a:folHlink>
        <a:srgbClr val="954F72"/>
      </a:folHlink>
    </a:clrScheme>
    <a:fontScheme name="VCworkspac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VCworkspace">
      <a:fillStyleLst>
        <a:solidFill>
          <a:schemeClr val="phClr"/>
        </a:solidFill>
        <a:solidFill>
          <a:srgbClr val="000000"/>
        </a:solidFill>
        <a:solidFill>
          <a:srgbClr val="000000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rgbClr val="000000"/>
        </a:solidFill>
        <a:solidFill>
          <a:srgbClr val="000000"/>
        </a:soli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VCworkspace">
  <a:themeElements>
    <a:clrScheme name="VCworkspace">
      <a:dk1>
        <a:srgbClr val="13233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C2410C"/>
      </a:accent3>
      <a:accent4>
        <a:srgbClr val="7C3AED"/>
      </a:accent4>
      <a:accent5>
        <a:srgbClr val="0891B2"/>
      </a:accent5>
      <a:accent6>
        <a:srgbClr val="CA8A04"/>
      </a:accent6>
      <a:hlink>
        <a:srgbClr val="0563C1"/>
      </a:hlink>
      <a:folHlink>
        <a:srgbClr val="954F72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VCworkspace">
      <a:fillStyleLst>
        <a:solidFill>
          <a:schemeClr val="phClr"/>
        </a:solidFill>
        <a:solidFill>
          <a:srgbClr val="000000"/>
        </a:solidFill>
        <a:solidFill>
          <a:srgbClr val="000000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rgbClr val="000000"/>
        </a:solidFill>
        <a:solidFill>
          <a:srgbClr val="000000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